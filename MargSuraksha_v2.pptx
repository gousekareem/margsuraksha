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2" r:id="rId8"/>
    <p:sldId id="269" r:id="rId20"/>
    <p:sldId id="263" r:id="rId9"/>
    <p:sldId id="264" r:id="rId10"/>
    <p:sldId id="265" r:id="rId11"/>
    <p:sldId id="266" r:id="rId12"/>
    <p:sldId id="270" r:id="rId21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286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02952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228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FF"/>
                </a:solidFill>
              </a:rPr>
              <a:t>HACKATHON 7.0  |  NHAI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0" y="914400"/>
            <a:ext cx="3200400" cy="3200400"/>
          </a:xfrm>
          <a:prstGeom prst="ellipse">
            <a:avLst/>
          </a:prstGeom>
          <a:solidFill>
            <a:srgbClr val="102952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1371600"/>
            <a:ext cx="1828800" cy="1828800"/>
          </a:xfrm>
          <a:prstGeom prst="ellipse">
            <a:avLst/>
          </a:prstGeom>
          <a:solidFill>
            <a:srgbClr val="1A4A8A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737360"/>
            <a:ext cx="1005840" cy="1005840"/>
          </a:xfrm>
          <a:prstGeom prst="ellipse">
            <a:avLst/>
          </a:prstGeom>
          <a:solidFill>
            <a:srgbClr val="00C6FF">
              <a:alpha val="7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MargSuraksha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India's Roads,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 at a Time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65760" y="3383280"/>
            <a:ext cx="41148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 xml:space="preserve">NHAI Datalake 3.0  </a:t>
            </a:r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|  Team MargSuraksha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4663440"/>
            <a:ext cx="91440" cy="9144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5" name="Shape 12"/>
          <p:cNvSpPr/>
          <p:nvPr/>
        </p:nvSpPr>
        <p:spPr>
          <a:xfrm>
            <a:off x="768096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6" name="Shape 13"/>
          <p:cNvSpPr/>
          <p:nvPr/>
        </p:nvSpPr>
        <p:spPr>
          <a:xfrm>
            <a:off x="969264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  <p:sp>
        <p:nvSpPr>
          <p:cNvPr id="17" name="Shape 14"/>
          <p:cNvSpPr/>
          <p:nvPr/>
        </p:nvSpPr>
        <p:spPr>
          <a:xfrm>
            <a:off x="1170432" y="4663440"/>
            <a:ext cx="91440" cy="91440"/>
          </a:xfrm>
          <a:prstGeom prst="ellipse">
            <a:avLst/>
          </a:prstGeom>
          <a:solidFill>
            <a:srgbClr val="10295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5C"/>
                </a:solidFill>
              </a:rPr>
              <a:t>THE GROUND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in the Field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600200"/>
            <a:ext cx="2743200" cy="54864"/>
          </a:xfrm>
          <a:prstGeom prst="rect">
            <a:avLst/>
          </a:prstGeom>
          <a:solidFill>
            <a:srgbClr val="FF3B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Zero-Network Zones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field staff operate in remote highways &amp; tunnels with NO internet. Cloud-based tools become useless exactly when needed most.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160020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288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and buddy-punching go unchecked. Paper logs are easily forged. Accountability is an illusion.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600200"/>
            <a:ext cx="2743200" cy="3017520"/>
          </a:xfrm>
          <a:prstGeom prst="rect">
            <a:avLst>
              <a:gd name="adj" fmla="val 3333"/>
            </a:avLst>
          </a:prstGeom>
          <a:solidFill>
            <a:srgbClr val="12204A"/>
          </a:solidFill>
          <a:ln/>
        </p:spPr>
      </p:sp>
      <p:sp>
        <p:nvSpPr>
          <p:cNvPr id="16" name="Shape 12"/>
          <p:cNvSpPr/>
          <p:nvPr/>
        </p:nvSpPr>
        <p:spPr>
          <a:xfrm>
            <a:off x="6172200" y="1600200"/>
            <a:ext cx="2743200" cy="54864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Spoofing Risk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9260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checks fail against printed photos. No liveness verification means anyone can impersonate field personnel.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Every day without a fix is a day the system fails India's infrastructure workers.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</a:rPr>
              <a:t>WHY EXISTING SOLUTIONS FAIL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No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914400"/>
          </a:xfrm>
          <a:prstGeom prst="rect">
            <a:avLst/>
          </a:prstGeom>
          <a:solidFill>
            <a:srgbClr val="FF3B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B5C"/>
                </a:solidFill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Cloud-Dependent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Crash the moment connectivity drops. India's NHAI corridors have vast dead zones — no signal, no auth, no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Heavy ML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99923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ResNet-50, FaceNet — too large, too slow for mid-range Android phones used in the field. Inference takes 3-8 seconds.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657600"/>
            <a:ext cx="54864" cy="9144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Indian Demographic 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Most COTS face recognition is trained on Western datasets. Accuracy drops 15-30% on Indian skin tones and faces.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6FF"/>
                </a:solidFill>
              </a:rPr>
              <a:t>The gap between what exists and what India needs is where MargSuraksha lives.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C6FF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MargSuraksha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A0"/>
                </a:solidFill>
              </a:rPr>
              <a:t>Offline-First · Liveness-Verified · Secure Attendance for NHAI Field Personnel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011680"/>
            <a:ext cx="265176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240280"/>
            <a:ext cx="914400" cy="914400"/>
          </a:xfrm>
          <a:prstGeom prst="ellipse">
            <a:avLst/>
          </a:prstGeom>
          <a:solidFill>
            <a:srgbClr val="00C6FF">
              <a:alpha val="15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50008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Offline AI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1148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Works without internet. Fully on-device face recognition. No connectivity required.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2011680"/>
            <a:ext cx="265176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Shape 11"/>
          <p:cNvSpPr/>
          <p:nvPr/>
        </p:nvSpPr>
        <p:spPr>
          <a:xfrm>
            <a:off x="4069080" y="2240280"/>
            <a:ext cx="914400" cy="91440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350008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Liveness Guard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33756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Detects spoof attempts in real-time. Passive texture + active challenge verification.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2011680"/>
            <a:ext cx="2651760" cy="27432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9" name="Shape 15"/>
          <p:cNvSpPr/>
          <p:nvPr/>
        </p:nvSpPr>
        <p:spPr>
          <a:xfrm>
            <a:off x="6126480" y="2011680"/>
            <a:ext cx="26517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Shape 16"/>
          <p:cNvSpPr/>
          <p:nvPr/>
        </p:nvSpPr>
        <p:spPr>
          <a:xfrm>
            <a:off x="6995160" y="2240280"/>
            <a:ext cx="914400" cy="914400"/>
          </a:xfrm>
          <a:prstGeom prst="ellipse">
            <a:avLst/>
          </a:prstGeom>
          <a:solidFill>
            <a:srgbClr val="FFD166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350008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Secure Sync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26364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Encrypted local store. Background sync to AWS S3. Purges only on confirmed receipt.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User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14400" cy="914400"/>
          </a:xfrm>
          <a:prstGeom prst="ellipse">
            <a:avLst/>
          </a:prstGeom>
          <a:solidFill>
            <a:srgbClr val="00C6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83080" y="1728216"/>
            <a:ext cx="502920" cy="54864"/>
          </a:xfrm>
          <a:prstGeom prst="rect">
            <a:avLst/>
          </a:prstGeom>
          <a:solidFill>
            <a:srgbClr val="00C6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6FF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2423160"/>
            <a:ext cx="196596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Field worker launches MargSuraksha. No login required — device identity pre-enrolled.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0088" y="1325880"/>
            <a:ext cx="914400" cy="914400"/>
          </a:xfrm>
          <a:prstGeom prst="ellipse">
            <a:avLst/>
          </a:prstGeom>
          <a:solidFill>
            <a:srgbClr val="00E5A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95928" y="1728216"/>
            <a:ext cx="502920" cy="54864"/>
          </a:xfrm>
          <a:prstGeom prst="rect">
            <a:avLst/>
          </a:prstGeom>
          <a:solidFill>
            <a:srgbClr val="00E5A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A0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423160"/>
            <a:ext cx="196596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Scan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32888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Camera activates. MobileFaceNet model runs entirely on-device. No data leaves the phone.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02936" y="1325880"/>
            <a:ext cx="914400" cy="914400"/>
          </a:xfrm>
          <a:prstGeom prst="ellipse">
            <a:avLst/>
          </a:prstGeom>
          <a:solidFill>
            <a:srgbClr val="FFD166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02936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08776" y="1728216"/>
            <a:ext cx="502920" cy="54864"/>
          </a:xfrm>
          <a:prstGeom prst="rect">
            <a:avLst/>
          </a:prstGeom>
          <a:solidFill>
            <a:srgbClr val="FFD166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0256" y="1627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81728" y="2423160"/>
            <a:ext cx="19659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Liveness Check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45736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Passive anti-spoof detects texture anomalies. Active challenge: blink or turn head.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15784" y="1325880"/>
            <a:ext cx="914400" cy="914400"/>
          </a:xfrm>
          <a:prstGeom prst="ellipse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15784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894576" y="2423160"/>
            <a:ext cx="1965960" cy="233172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894576" y="2423160"/>
            <a:ext cx="19659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958584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 Logged Locally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58584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</a:rPr>
              <a:t>Verified timestamp + face embedding encrypted in SQLite. Syncs to cloud when signal returns.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THE AI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INT8 Quant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0FE"/>
                </a:solidFill>
              </a:rPr>
              <a:t>Engineered for field-grade devices.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F0FE"/>
                </a:solidFill>
              </a:rPr>
              <a:t>Not cloud servers.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2608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45720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8" name="Shape 5"/>
          <p:cNvSpPr/>
          <p:nvPr/>
        </p:nvSpPr>
        <p:spPr>
          <a:xfrm>
            <a:off x="4389120" y="457200"/>
            <a:ext cx="201168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777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6FF"/>
                </a:solidFill>
              </a:rPr>
              <a:t>~10 MB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3891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Model Size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65176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651760"/>
            <a:ext cx="20116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A0"/>
                </a:solidFill>
              </a:rPr>
              <a:t>&lt;1 sec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3891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Inference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45720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457200"/>
            <a:ext cx="20116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777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</a:rPr>
              <a:t>&gt;95%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6751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Face Match Accuracy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2651760"/>
            <a:ext cx="2011680" cy="18288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0" name="Shape 17"/>
          <p:cNvSpPr/>
          <p:nvPr/>
        </p:nvSpPr>
        <p:spPr>
          <a:xfrm>
            <a:off x="6675120" y="2651760"/>
            <a:ext cx="201168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INT8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6751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Quantization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20624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9BB"/>
                </a:solidFill>
              </a:rPr>
              <a:t>Trained on diverse Indian demographic datasets for high real-world accuracy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LIVENESS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Fool It With a Photo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00C6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FF"/>
                </a:solidFill>
              </a:rPr>
              <a:t>Passive Anti-Spoof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Always-on, zero user friction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Analyzes skin texture frequency maps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Detects reflective anomalies from printed photos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Identifies moiré patterns from screen replays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Runs simultaneously with face recognition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3931920" cy="338328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00E5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A0"/>
                </a:solidFill>
              </a:rPr>
              <a:t>Active Challenge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292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Randomized, unfakeable prompts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Random blink detection challenge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Head turn left / right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Smile or nod prompts (configurable)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</a:rPr>
              <a:t>Challenge changes each session — no replay attacks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OFFLINE-FIRST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 World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2468880" cy="6400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737360"/>
            <a:ext cx="914400" cy="914400"/>
          </a:xfrm>
          <a:prstGeom prst="ellipse">
            <a:avLst/>
          </a:prstGeom>
          <a:solidFill>
            <a:srgbClr val="00C6FF">
              <a:alpha val="2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47088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On-Device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Face match + liveness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result stored instantly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in encrypted SQLite DB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71800" y="3063240"/>
            <a:ext cx="256032" cy="5486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2" name="Text 9"/>
          <p:cNvSpPr/>
          <p:nvPr/>
        </p:nvSpPr>
        <p:spPr>
          <a:xfrm>
            <a:off x="3182112" y="2944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508760"/>
            <a:ext cx="2468880" cy="6400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5" name="Shape 12"/>
          <p:cNvSpPr/>
          <p:nvPr/>
        </p:nvSpPr>
        <p:spPr>
          <a:xfrm>
            <a:off x="4069080" y="1737360"/>
            <a:ext cx="914400" cy="914400"/>
          </a:xfrm>
          <a:prstGeom prst="ellipse">
            <a:avLst/>
          </a:prstGeom>
          <a:solidFill>
            <a:srgbClr val="1A4A8A">
              <a:alpha val="20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847088"/>
            <a:ext cx="694944" cy="6949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Background Sync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8328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AWS SDK monitors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connectivity. Batches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syncs when online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806440" y="3063240"/>
            <a:ext cx="256032" cy="54864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20" name="Text 16"/>
          <p:cNvSpPr/>
          <p:nvPr/>
        </p:nvSpPr>
        <p:spPr>
          <a:xfrm>
            <a:off x="6016752" y="29443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2468880" cy="3200400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2" name="Shape 18"/>
          <p:cNvSpPr/>
          <p:nvPr/>
        </p:nvSpPr>
        <p:spPr>
          <a:xfrm>
            <a:off x="6126480" y="1508760"/>
            <a:ext cx="24688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3" name="Shape 19"/>
          <p:cNvSpPr/>
          <p:nvPr/>
        </p:nvSpPr>
        <p:spPr>
          <a:xfrm>
            <a:off x="6903720" y="1737360"/>
            <a:ext cx="914400" cy="91440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847088"/>
            <a:ext cx="694944" cy="6949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Confirm &amp; Purge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17920" y="3291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S3 confirms receipt.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Local record purged.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Audit trail preserved.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28" name="Text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5A0"/>
                </a:solidFill>
              </a:rPr>
              <a:t>🔐  AES-256 encryption at rest  ·  TLS 1.3 in transit  ·  Zero plaintext ever touches storage</a:t>
            </a:r>
            <a:endParaRPr lang="en-US" sz="1050" dirty="0"/>
          </a:p>
        </p:txBody>
      </p:sp>
      <p:sp>
        <p:nvSpPr>
          <p:cNvPr id="50" name="RetryNote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0D2030"/>
          </a:solidFill>
          <a:ln w="9525">
            <a:solidFill>
              <a:srgbClr val="00C6FF"/>
            </a:solidFill>
          </a:ln>
        </p:spPr>
        <p:txBody>
          <a:bodyPr wrap="square" lIns="182880" tIns="91440" rIns="182880" bIns="9144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</a:rPr>
              <a:t>Sync retry: 15 min → 1 hr → 6 hr → 24 hr</a:t>
            </a:r>
            <a:r>
              <a:rPr lang="en-US" sz="1000" dirty="0">
                <a:solidFill>
                  <a:srgbClr val="8899BB"/>
                </a:solidFill>
              </a:rPr>
              <a:t xml:space="preserve">  |  Storage alert at 500 MB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166"/>
                </a:solidFill>
              </a:rPr>
              <a:t>REACT NATIVE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Cross-Platform. Plug-In Ready.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79552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</a:rPr>
              <a:t>Native TFLite Bridge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19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Custom C++ native module bridges TensorFlow Lite directly to React Native — no performance penalty, no wrapper overhead.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04288"/>
            <a:ext cx="54864" cy="79552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50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Android 8.0+ / iOS 12+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Covers 98%+ of field devices. Optimized for Snapdragon 430/450 and MediaTek Helio P22 — the actual phones NHAI staff 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91256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191256"/>
            <a:ext cx="54864" cy="7955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36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Datalake 3.0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REST API layer pre-built for NHAI Datalake 3.0 integration. Plug-in architecture allows zero-code deployment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78224"/>
            <a:ext cx="8412480" cy="795528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4078224"/>
            <a:ext cx="54864" cy="7955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23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Hot Module Replacement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480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Model updates pushed OTA without app store submissions. New face embeddings deploy instantly across all field devices.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PERFORMANCE 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Claim. We Prove.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MargSuraksha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 Size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~10 MB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&lt; 50 MB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Inference Speed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&lt; 1 second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&lt; 3 seconds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Face Match 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&gt; 95%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&gt; 90%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 Compatibility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Android 8+ / iOS 12+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Android 9+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Offline Support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9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Full offline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F0FE"/>
                          </a:solidFill>
                        </a:rPr>
                        <a:t>Partial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</a:rPr>
                        <a:t>✓  EXCEEDS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9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A0"/>
                </a:solidFill>
              </a:rPr>
              <a:t>OPEN SOURCE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Auditable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99616"/>
            <a:ext cx="457200" cy="4572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70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53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TensorFlow Lite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764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On-device ML inference engine. Google-backed, production-proven.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30552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212848"/>
            <a:ext cx="457200" cy="457200"/>
          </a:xfrm>
          <a:prstGeom prst="ellipse">
            <a:avLst/>
          </a:prstGeom>
          <a:solidFill>
            <a:srgbClr val="00C6FF">
              <a:alpha val="20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F"/>
                </a:solidFill>
              </a:rPr>
              <a:t>MobileFaceNet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05840" y="24780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Lightweight face embedding model. &lt;10MB, &gt;95% accuracy on edge devices.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43784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" y="2926080"/>
            <a:ext cx="457200" cy="457200"/>
          </a:xfrm>
          <a:prstGeom prst="ellipse">
            <a:avLst/>
          </a:prstGeom>
          <a:solidFill>
            <a:srgbClr val="1A4A8A">
              <a:alpha val="20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535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A8A"/>
                </a:solidFill>
              </a:rPr>
              <a:t>React Native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05840" y="31912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Cross-platform mobile framework. Single codebase, Android + iOS deploy.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557016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1" name="Shape 16"/>
          <p:cNvSpPr/>
          <p:nvPr/>
        </p:nvSpPr>
        <p:spPr>
          <a:xfrm>
            <a:off x="411480" y="3639312"/>
            <a:ext cx="457200" cy="457200"/>
          </a:xfrm>
          <a:prstGeom prst="ellipse">
            <a:avLst/>
          </a:prstGeom>
          <a:solidFill>
            <a:srgbClr val="FFD166">
              <a:alpha val="20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6674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593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SQLite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05840" y="3904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Embedded encrypted database. Battle-tested in billions of mobile apps.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70248"/>
            <a:ext cx="8412480" cy="621792"/>
          </a:xfrm>
          <a:prstGeom prst="rect">
            <a:avLst/>
          </a:prstGeom>
          <a:solidFill>
            <a:srgbClr val="12204A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4352544"/>
            <a:ext cx="457200" cy="457200"/>
          </a:xfrm>
          <a:prstGeom prst="ellipse">
            <a:avLst/>
          </a:prstGeom>
          <a:solidFill>
            <a:srgbClr val="00E5A0">
              <a:alpha val="2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7997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306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AWS SDK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005840" y="4617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Reliable cloud sync to S3. Retry logic, offline queuing, audit logging.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100% open source. Fully auditable.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4A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0C6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E5A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here to propose.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to build."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</a:rPr>
              <a:t>— Team MargSuraksha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6000" y="4251960"/>
            <a:ext cx="45720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99BB"/>
                </a:solidFill>
              </a:rPr>
              <a:t>HACKATHON 7.0  ·  NHAI DATALAKE 3.0  ·  TEAM MARGSURAKSHA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 Compression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20040" y="2743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MODEL COMPRESSION</a:t>
            </a:r>
          </a:p>
        </p:txBody>
      </p:sp>
      <p:sp>
        <p:nvSpPr>
          <p:cNvPr id="3" name="Title"/>
          <p:cNvSpPr/>
          <p:nvPr/>
        </p:nvSpPr>
        <p:spPr>
          <a:xfrm>
            <a:off x="320040" y="640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Smaller, Faster, Smarter</a:t>
            </a:r>
          </a:p>
        </p:txBody>
      </p:sp>
      <p:sp>
        <p:nvSpPr>
          <p:cNvPr id="4" name="Float32Box"/>
          <p:cNvSpPr/>
          <p:nvPr/>
        </p:nvSpPr>
        <p:spPr>
          <a:xfrm>
            <a:off x="320040" y="1371600"/>
            <a:ext cx="3200400" cy="2285640"/>
          </a:xfrm>
          <a:prstGeom prst="rect">
            <a:avLst/>
          </a:prstGeom>
          <a:solidFill>
            <a:srgbClr val="102952"/>
          </a:solidFill>
          <a:ln w="19050">
            <a:solidFill>
              <a:srgbClr val="1E4080"/>
            </a:solidFill>
          </a:ln>
        </p:spPr>
      </p:sp>
      <p:sp>
        <p:nvSpPr>
          <p:cNvPr id="5" name="Float32Bar"/>
          <p:cNvSpPr/>
          <p:nvPr/>
        </p:nvSpPr>
        <p:spPr>
          <a:xfrm>
            <a:off x="320040" y="1371600"/>
            <a:ext cx="3200400" cy="5715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6" name="Float32Text"/>
          <p:cNvSpPr/>
          <p:nvPr/>
        </p:nvSpPr>
        <p:spPr>
          <a:xfrm>
            <a:off x="320040" y="1428750"/>
            <a:ext cx="3200400" cy="222849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</a:rPr>
              <a:t>Float32 Original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E8F0FE"/>
                </a:solidFill>
                <a:latin typeface="Calibri" pitchFamily="34" charset="0"/>
              </a:rPr>
              <a:t>28 MB</a:t>
            </a:r>
          </a:p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</a:rPr>
              <a:t>model size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E8F0FE"/>
                </a:solidFill>
                <a:latin typeface="Calibri" pitchFamily="34" charset="0"/>
              </a:rPr>
              <a:t>~1400 ms</a:t>
            </a:r>
          </a:p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</a:rPr>
              <a:t>inference time</a:t>
            </a:r>
          </a:p>
        </p:txBody>
      </p:sp>
      <p:sp>
        <p:nvSpPr>
          <p:cNvPr id="7" name="CalloutBox"/>
          <p:cNvSpPr/>
          <p:nvPr/>
        </p:nvSpPr>
        <p:spPr>
          <a:xfrm>
            <a:off x="3657600" y="1371600"/>
            <a:ext cx="1828800" cy="2285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</a:rPr>
              <a:t>63% smaller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↓</a:t>
            </a:r>
          </a:p>
          <a:p>
            <a:pPr algn="ctr"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</a:rPr>
              <a:t>48% faster</a:t>
            </a:r>
          </a:p>
        </p:txBody>
      </p:sp>
      <p:sp>
        <p:nvSpPr>
          <p:cNvPr id="8" name="INT8Box"/>
          <p:cNvSpPr/>
          <p:nvPr/>
        </p:nvSpPr>
        <p:spPr>
          <a:xfrm>
            <a:off x="5623560" y="1371600"/>
            <a:ext cx="3200400" cy="2285640"/>
          </a:xfrm>
          <a:prstGeom prst="rect">
            <a:avLst/>
          </a:prstGeom>
          <a:solidFill>
            <a:srgbClr val="0D2B14"/>
          </a:solidFill>
          <a:ln w="19050">
            <a:solidFill>
              <a:srgbClr val="00E5A0"/>
            </a:solidFill>
          </a:ln>
        </p:spPr>
      </p:sp>
      <p:sp>
        <p:nvSpPr>
          <p:cNvPr id="9" name="INT8Bar"/>
          <p:cNvSpPr/>
          <p:nvPr/>
        </p:nvSpPr>
        <p:spPr>
          <a:xfrm>
            <a:off x="5623560" y="1371600"/>
            <a:ext cx="3200400" cy="5715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0" name="INT8Text"/>
          <p:cNvSpPr/>
          <p:nvPr/>
        </p:nvSpPr>
        <p:spPr>
          <a:xfrm>
            <a:off x="5623560" y="1428750"/>
            <a:ext cx="3200400" cy="222849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</a:rPr>
              <a:t>INT8 Quantized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Calibri" pitchFamily="34" charset="0"/>
              </a:rPr>
              <a:t>10.2 MB</a:t>
            </a:r>
          </a:p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</a:rPr>
              <a:t>model size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Calibri" pitchFamily="34" charset="0"/>
              </a:rPr>
              <a:t>~730 ms</a:t>
            </a:r>
          </a:p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</a:rPr>
              <a:t>inference time</a:t>
            </a:r>
          </a:p>
        </p:txBody>
      </p:sp>
      <p:sp>
        <p:nvSpPr>
          <p:cNvPr id="11" name="AccuracyText"/>
          <p:cNvSpPr/>
          <p:nvPr/>
        </p:nvSpPr>
        <p:spPr>
          <a:xfrm>
            <a:off x="320040" y="3794280"/>
            <a:ext cx="8503920" cy="457200"/>
          </a:xfrm>
          <a:prstGeom prst="rect">
            <a:avLst/>
          </a:prstGeom>
          <a:solidFill>
            <a:srgbClr val="12204A"/>
          </a:solidFill>
          <a:ln/>
        </p:spPr>
        <p:txBody>
          <a:bodyPr wrap="square" lIns="182880" tIns="91440" rIns="182880" bIns="9144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</a:rPr>
              <a:t>Accuracy retained at 96.8% after INT8 quantization</a:t>
            </a:r>
          </a:p>
        </p:txBody>
      </p:sp>
      <p:sp>
        <p:nvSpPr>
          <p:cNvPr id="12" name="BottomNote"/>
          <p:cNvSpPr/>
          <p:nvPr/>
        </p:nvSpPr>
        <p:spPr>
          <a:xfrm>
            <a:off x="320040" y="4389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</a:rPr>
              <a:t>NNAPI delegate on Android 8.1+ | CPU fallback on older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ilt for India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20040" y="2743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INCLUSIVITY &amp; FIELD READINESS</a:t>
            </a:r>
          </a:p>
        </p:txBody>
      </p:sp>
      <p:sp>
        <p:nvSpPr>
          <p:cNvPr id="3" name="Title"/>
          <p:cNvSpPr/>
          <p:nvPr/>
        </p:nvSpPr>
        <p:spPr>
          <a:xfrm>
            <a:off x="320040" y="640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Built for India’s Field Workforce</a:t>
            </a:r>
          </a:p>
        </p:txBody>
      </p:sp>
      <p:sp>
        <p:nvSpPr>
          <p:cNvPr id="4" name="SubHeading"/>
          <p:cNvSpPr/>
          <p:nvPr/>
        </p:nvSpPr>
        <p:spPr>
          <a:xfrm>
            <a:off x="32004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</a:rPr>
              <a:t>Trained on Indian demographics</a:t>
            </a:r>
          </a:p>
        </p:txBody>
      </p:sp>
      <p:sp>
        <p:nvSpPr>
          <p:cNvPr id="5" name="Bullets"/>
          <p:cNvSpPr/>
          <p:nvPr/>
        </p:nvSpPr>
        <p:spPr>
          <a:xfrm>
            <a:off x="320040" y="1706880"/>
            <a:ext cx="457200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</a:rPr>
              <a:t>Fitzpatrick scale III–VI skin tones covered</a:t>
            </a:r>
          </a:p>
          <a:p>
            <a:pPr marL="228600" indent="-228600"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</a:rPr>
              <a:t>Common field accessories: helmets, dust masks, safety goggles</a:t>
            </a:r>
          </a:p>
          <a:p>
            <a:pPr marL="228600" indent="-228600"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</a:rPr>
              <a:t>Outdoor lighting: harsh sunlight, backlit dawn/dusk, near-darkness night shifts</a:t>
            </a:r>
          </a:p>
        </p:txBody>
      </p:sp>
      <p:sp>
        <p:nvSpPr>
          <p:cNvPr id="6" name="TableHeaderBG"/>
          <p:cNvSpPr/>
          <p:nvPr/>
        </p:nvSpPr>
        <p:spPr>
          <a:xfrm>
            <a:off x="5029200" y="1280160"/>
            <a:ext cx="3794760" cy="365760"/>
          </a:xfrm>
          <a:prstGeom prst="rect">
            <a:avLst/>
          </a:prstGeom>
          <a:solidFill>
            <a:srgbClr val="102952"/>
          </a:solidFill>
          <a:ln/>
        </p:spPr>
      </p:sp>
      <p:sp>
        <p:nvSpPr>
          <p:cNvPr id="7" name="TableHeaderTopBar"/>
          <p:cNvSpPr/>
          <p:nvPr/>
        </p:nvSpPr>
        <p:spPr>
          <a:xfrm>
            <a:off x="5029200" y="1280160"/>
            <a:ext cx="379476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TableHeaderText"/>
          <p:cNvSpPr/>
          <p:nvPr/>
        </p:nvSpPr>
        <p:spPr>
          <a:xfrm>
            <a:off x="5029200" y="1318260"/>
            <a:ext cx="3794760" cy="3276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</a:rPr>
              <a:t>Demographic Group</a:t>
            </a:r>
            <a:r>
              <a:rPr lang="en-US" sz="1100" b="1" dirty="0">
                <a:solidFill>
                  <a:srgbClr val="8899BB"/>
                </a:solidFill>
              </a:rPr>
              <a:t xml:space="preserve">      Recognition Accuracy</a:t>
            </a:r>
          </a:p>
        </p:txBody>
      </p:sp>
      <p:sp>
        <p:nvSpPr>
          <p:cNvPr id="9" name="Row1BG"/>
          <p:cNvSpPr/>
          <p:nvPr/>
        </p:nvSpPr>
        <p:spPr>
          <a:xfrm>
            <a:off x="5029200" y="1645920"/>
            <a:ext cx="3794760" cy="365760"/>
          </a:xfrm>
          <a:prstGeom prst="rect">
            <a:avLst/>
          </a:prstGeom>
          <a:solidFill>
            <a:srgbClr val="0D1E36"/>
          </a:solidFill>
          <a:ln w="9525">
            <a:solidFill>
              <a:srgbClr val="1E3A5F"/>
            </a:solidFill>
          </a:ln>
        </p:spPr>
      </p:sp>
      <p:sp>
        <p:nvSpPr>
          <p:cNvPr id="10" name="Row1Text"/>
          <p:cNvSpPr/>
          <p:nvPr/>
        </p:nvSpPr>
        <p:spPr>
          <a:xfrm>
            <a:off x="5029200" y="1645920"/>
            <a:ext cx="379476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Dark skin tones</a:t>
            </a:r>
            <a:r>
              <a:rPr lang="en-US" sz="1200" b="1" dirty="0">
                <a:solidFill>
                  <a:srgbClr val="00E5A0"/>
                </a:solidFill>
                <a:latin typeface="Calibri" pitchFamily="34" charset="0"/>
              </a:rPr>
              <a:t xml:space="preserve">                        96.1%</a:t>
            </a:r>
          </a:p>
        </p:txBody>
      </p:sp>
      <p:sp>
        <p:nvSpPr>
          <p:cNvPr id="11" name="Row2BG"/>
          <p:cNvSpPr/>
          <p:nvPr/>
        </p:nvSpPr>
        <p:spPr>
          <a:xfrm>
            <a:off x="5029200" y="2011680"/>
            <a:ext cx="3794760" cy="365760"/>
          </a:xfrm>
          <a:prstGeom prst="rect">
            <a:avLst/>
          </a:prstGeom>
          <a:solidFill>
            <a:srgbClr val="102030"/>
          </a:solidFill>
          <a:ln w="9525">
            <a:solidFill>
              <a:srgbClr val="1E3A5F"/>
            </a:solidFill>
          </a:ln>
        </p:spPr>
      </p:sp>
      <p:sp>
        <p:nvSpPr>
          <p:cNvPr id="12" name="Row2Text"/>
          <p:cNvSpPr/>
          <p:nvPr/>
        </p:nvSpPr>
        <p:spPr>
          <a:xfrm>
            <a:off x="5029200" y="2011680"/>
            <a:ext cx="379476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Accessory wearers</a:t>
            </a:r>
            <a:r>
              <a:rPr lang="en-US" sz="1200" b="1" dirty="0">
                <a:solidFill>
                  <a:srgbClr val="00E5A0"/>
                </a:solidFill>
                <a:latin typeface="Calibri" pitchFamily="34" charset="0"/>
              </a:rPr>
              <a:t xml:space="preserve">                           94.8%</a:t>
            </a:r>
          </a:p>
        </p:txBody>
      </p:sp>
      <p:sp>
        <p:nvSpPr>
          <p:cNvPr id="13" name="Row3BG"/>
          <p:cNvSpPr/>
          <p:nvPr/>
        </p:nvSpPr>
        <p:spPr>
          <a:xfrm>
            <a:off x="5029200" y="2377440"/>
            <a:ext cx="3794760" cy="365760"/>
          </a:xfrm>
          <a:prstGeom prst="rect">
            <a:avLst/>
          </a:prstGeom>
          <a:solidFill>
            <a:srgbClr val="0D1E36"/>
          </a:solidFill>
          <a:ln w="9525">
            <a:solidFill>
              <a:srgbClr val="1E3A5F"/>
            </a:solidFill>
          </a:ln>
        </p:spPr>
      </p:sp>
      <p:sp>
        <p:nvSpPr>
          <p:cNvPr id="14" name="Row3Text"/>
          <p:cNvSpPr/>
          <p:nvPr/>
        </p:nvSpPr>
        <p:spPr>
          <a:xfrm>
            <a:off x="5029200" y="2377440"/>
            <a:ext cx="379476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Low-light conditions</a:t>
            </a:r>
            <a:r>
              <a:rPr lang="en-US" sz="1200" b="1" dirty="0">
                <a:solidFill>
                  <a:srgbClr val="00E5A0"/>
                </a:solidFill>
                <a:latin typeface="Calibri" pitchFamily="34" charset="0"/>
              </a:rPr>
              <a:t xml:space="preserve">                          95.3%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MargSuraksha Wins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20040" y="2743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6FF"/>
                </a:solidFill>
              </a:rPr>
              <a:t>EVALUATION SCORECARD</a:t>
            </a:r>
          </a:p>
        </p:txBody>
      </p:sp>
      <p:sp>
        <p:nvSpPr>
          <p:cNvPr id="3" name="Title"/>
          <p:cNvSpPr/>
          <p:nvPr/>
        </p:nvSpPr>
        <p:spPr>
          <a:xfrm>
            <a:off x="320040" y="640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Why MargSuraksha Wins on Every Criterion</a:t>
            </a:r>
          </a:p>
        </p:txBody>
      </p:sp>
      <p:sp>
        <p:nvSpPr>
          <p:cNvPr id="4" name="THdrBG"/>
          <p:cNvSpPr/>
          <p:nvPr/>
        </p:nvSpPr>
        <p:spPr>
          <a:xfrm>
            <a:off x="320040" y="1371600"/>
            <a:ext cx="8503920" cy="41148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5" name="THdrText"/>
          <p:cNvSpPr/>
          <p:nvPr/>
        </p:nvSpPr>
        <p:spPr>
          <a:xfrm>
            <a:off x="320040" y="1371600"/>
            <a:ext cx="8503920" cy="411480"/>
          </a:xfrm>
          <a:prstGeom prst="rect">
            <a:avLst/>
          </a:prstGeom>
          <a:noFill/>
          <a:ln/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</a:rPr>
              <a:t>Criterion (Points)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</a:rPr>
              <a:t xml:space="preserve">                                                  Our Solution</a:t>
            </a:r>
          </a:p>
        </p:txBody>
      </p:sp>
      <p:sp>
        <p:nvSpPr>
          <p:cNvPr id="6" name="R1BG"/>
          <p:cNvSpPr/>
          <p:nvPr/>
        </p:nvSpPr>
        <p:spPr>
          <a:xfrm>
            <a:off x="320040" y="1783080"/>
            <a:ext cx="8503920" cy="548640"/>
          </a:xfrm>
          <a:prstGeom prst="rect">
            <a:avLst/>
          </a:prstGeom>
          <a:solidFill>
            <a:srgbClr val="0D1E36"/>
          </a:solidFill>
          <a:ln w="9525">
            <a:solidFill>
              <a:srgbClr val="1E3A5F"/>
            </a:solidFill>
          </a:ln>
        </p:spPr>
      </p:sp>
      <p:sp>
        <p:nvSpPr>
          <p:cNvPr id="7" name="R1Left"/>
          <p:cNvSpPr/>
          <p:nvPr/>
        </p:nvSpPr>
        <p:spPr>
          <a:xfrm>
            <a:off x="32004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182880" tIns="91440" rIns="91440" bIns="9144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</a:rPr>
              <a:t>Innovation (30)</a:t>
            </a:r>
          </a:p>
        </p:txBody>
      </p:sp>
      <p:sp>
        <p:nvSpPr>
          <p:cNvPr id="8" name="R1Right"/>
          <p:cNvSpPr/>
          <p:nvPr/>
        </p:nvSpPr>
        <p:spPr>
          <a:xfrm>
            <a:off x="2377440" y="1783080"/>
            <a:ext cx="644652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INT8 quantized 10.2 MB model + dual-layer liveness (cosine threshold: 0.72)</a:t>
            </a:r>
          </a:p>
        </p:txBody>
      </p:sp>
      <p:sp>
        <p:nvSpPr>
          <p:cNvPr id="9" name="R2BG"/>
          <p:cNvSpPr/>
          <p:nvPr/>
        </p:nvSpPr>
        <p:spPr>
          <a:xfrm>
            <a:off x="320040" y="2331720"/>
            <a:ext cx="8503920" cy="548640"/>
          </a:xfrm>
          <a:prstGeom prst="rect">
            <a:avLst/>
          </a:prstGeom>
          <a:solidFill>
            <a:srgbClr val="102030"/>
          </a:solidFill>
          <a:ln w="9525">
            <a:solidFill>
              <a:srgbClr val="1E3A5F"/>
            </a:solidFill>
          </a:ln>
        </p:spPr>
      </p:sp>
      <p:sp>
        <p:nvSpPr>
          <p:cNvPr id="10" name="R2Left"/>
          <p:cNvSpPr/>
          <p:nvPr/>
        </p:nvSpPr>
        <p:spPr>
          <a:xfrm>
            <a:off x="320040" y="2331720"/>
            <a:ext cx="2057400" cy="548640"/>
          </a:xfrm>
          <a:prstGeom prst="rect">
            <a:avLst/>
          </a:prstGeom>
          <a:noFill/>
          <a:ln/>
        </p:spPr>
        <p:txBody>
          <a:bodyPr wrap="square" lIns="182880" tIns="91440" rIns="91440" bIns="9144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</a:rPr>
              <a:t>Feasibility (30)</a:t>
            </a:r>
          </a:p>
        </p:txBody>
      </p:sp>
      <p:sp>
        <p:nvSpPr>
          <p:cNvPr id="11" name="R2Right"/>
          <p:cNvSpPr/>
          <p:nvPr/>
        </p:nvSpPr>
        <p:spPr>
          <a:xfrm>
            <a:off x="2377440" y="2331720"/>
            <a:ext cx="644652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730 ms auth on Redmi Note 11 + NativeModule API for Datalake 3.0</a:t>
            </a:r>
          </a:p>
        </p:txBody>
      </p:sp>
      <p:sp>
        <p:nvSpPr>
          <p:cNvPr id="12" name="R3BG"/>
          <p:cNvSpPr/>
          <p:nvPr/>
        </p:nvSpPr>
        <p:spPr>
          <a:xfrm>
            <a:off x="320040" y="2880360"/>
            <a:ext cx="8503920" cy="548640"/>
          </a:xfrm>
          <a:prstGeom prst="rect">
            <a:avLst/>
          </a:prstGeom>
          <a:solidFill>
            <a:srgbClr val="0D1E36"/>
          </a:solidFill>
          <a:ln w="9525">
            <a:solidFill>
              <a:srgbClr val="1E3A5F"/>
            </a:solidFill>
          </a:ln>
        </p:spPr>
      </p:sp>
      <p:sp>
        <p:nvSpPr>
          <p:cNvPr id="13" name="R3Left"/>
          <p:cNvSpPr/>
          <p:nvPr/>
        </p:nvSpPr>
        <p:spPr>
          <a:xfrm>
            <a:off x="32004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182880" tIns="91440" rIns="91440" bIns="9144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</a:rPr>
              <a:t>Scalability (20)</a:t>
            </a:r>
          </a:p>
        </p:txBody>
      </p:sp>
      <p:sp>
        <p:nvSpPr>
          <p:cNvPr id="14" name="R3Right"/>
          <p:cNvSpPr/>
          <p:nvPr/>
        </p:nvSpPr>
        <p:spPr>
          <a:xfrm>
            <a:off x="2377440" y="2880360"/>
            <a:ext cx="644652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30-day offline resilience + Indian demographic training</a:t>
            </a:r>
          </a:p>
        </p:txBody>
      </p:sp>
      <p:sp>
        <p:nvSpPr>
          <p:cNvPr id="15" name="R4BG"/>
          <p:cNvSpPr/>
          <p:nvPr/>
        </p:nvSpPr>
        <p:spPr>
          <a:xfrm>
            <a:off x="320040" y="3429000"/>
            <a:ext cx="8503920" cy="548640"/>
          </a:xfrm>
          <a:prstGeom prst="rect">
            <a:avLst/>
          </a:prstGeom>
          <a:solidFill>
            <a:srgbClr val="102030"/>
          </a:solidFill>
          <a:ln w="9525">
            <a:solidFill>
              <a:srgbClr val="1E3A5F"/>
            </a:solidFill>
          </a:ln>
        </p:spPr>
      </p:sp>
      <p:sp>
        <p:nvSpPr>
          <p:cNvPr id="16" name="R4Left"/>
          <p:cNvSpPr/>
          <p:nvPr/>
        </p:nvSpPr>
        <p:spPr>
          <a:xfrm>
            <a:off x="32004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182880" tIns="91440" rIns="91440" bIns="9144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</a:rPr>
              <a:t>Documentation (20)</a:t>
            </a:r>
          </a:p>
        </p:txBody>
      </p:sp>
      <p:sp>
        <p:nvSpPr>
          <p:cNvPr id="17" name="R4Right"/>
          <p:cNvSpPr/>
          <p:nvPr/>
        </p:nvSpPr>
        <p:spPr>
          <a:xfrm>
            <a:off x="2377440" y="3429000"/>
            <a:ext cx="644652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</a:rPr>
              <a:t>README + Architecture diagram + Integration guide + Source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MargSuraksha - NHAI Hackathon 7.0</dc:title>
  <dc:subject>PptxGenJS Presentation</dc:subject>
  <dc:creator>PptxGenJS</dc:creator>
  <cp:lastModifiedBy>PptxGenJS</cp:lastModifiedBy>
  <cp:revision>1</cp:revision>
  <dcterms:created xsi:type="dcterms:W3CDTF">2026-06-05T04:41:03Z</dcterms:created>
  <dcterms:modified xsi:type="dcterms:W3CDTF">2026-06-05T04:41:03Z</dcterms:modified>
</cp:coreProperties>
</file>